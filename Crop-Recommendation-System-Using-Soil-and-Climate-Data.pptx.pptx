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ibre Baskerville" charset="1" panose="02000000000000000000"/>
      <p:regular r:id="rId20"/>
    </p:embeddedFont>
    <p:embeddedFont>
      <p:font typeface="DM Sans" charset="1" panose="00000000000000000000"/>
      <p:regular r:id="rId21"/>
    </p:embeddedFont>
    <p:embeddedFont>
      <p:font typeface="DM Sans Bold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png" Type="http://schemas.openxmlformats.org/officeDocument/2006/relationships/image"/><Relationship Id="rId13" Target="../media/image35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9917" y="1575295"/>
            <a:ext cx="9445523" cy="268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Crop Recommendation System Using Soil and Climate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977260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 Machine Learning-Based Predictive Analytics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749823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Team Members:</a:t>
            </a: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Ananthan 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6522396"/>
            <a:ext cx="9445523" cy="54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Ashna Jebin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7294959"/>
            <a:ext cx="944552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                             Jeeva B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72695" y="957558"/>
            <a:ext cx="9600609" cy="166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&amp; 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2695" y="3202934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This Matters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72695" y="3794970"/>
            <a:ext cx="4481512" cy="2888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Agricultural productivity depends critically on soil nutrients (Nitrogen, Phosphorus, Potassium, pH) and climate conditions (temperature, rainfall, humidity). These factors determine which crops will thrive in specific locations.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01317" y="3202934"/>
            <a:ext cx="3267227" cy="42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Challenge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01317" y="3794970"/>
            <a:ext cx="4481512" cy="208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Traditional crop selection relies on farmer experience rather than data-driven insights. This often leads to suboptimal yields, poor planning, and reduced sustainability.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72695" y="7170839"/>
            <a:ext cx="9600609" cy="1457173"/>
            <a:chOff x="0" y="0"/>
            <a:chExt cx="12800813" cy="19428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0838" cy="1942973"/>
            </a:xfrm>
            <a:custGeom>
              <a:avLst/>
              <a:gdLst/>
              <a:ahLst/>
              <a:cxnLst/>
              <a:rect r="r" b="b" t="t" l="l"/>
              <a:pathLst>
                <a:path h="1942973" w="12800838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12654407" y="0"/>
                  </a:lnTo>
                  <a:cubicBezTo>
                    <a:pt x="12735306" y="0"/>
                    <a:pt x="12800838" y="65532"/>
                    <a:pt x="12800838" y="146431"/>
                  </a:cubicBezTo>
                  <a:lnTo>
                    <a:pt x="12800838" y="1796542"/>
                  </a:lnTo>
                  <a:cubicBezTo>
                    <a:pt x="12800838" y="1877441"/>
                    <a:pt x="12735306" y="1942973"/>
                    <a:pt x="12654407" y="1942973"/>
                  </a:cubicBezTo>
                  <a:lnTo>
                    <a:pt x="146431" y="1942973"/>
                  </a:lnTo>
                  <a:cubicBezTo>
                    <a:pt x="65532" y="1942846"/>
                    <a:pt x="0" y="1877314"/>
                    <a:pt x="0" y="1796542"/>
                  </a:cubicBezTo>
                  <a:close/>
                </a:path>
              </a:pathLst>
            </a:custGeom>
            <a:solidFill>
              <a:srgbClr val="FFB3B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034042" y="7554516"/>
            <a:ext cx="326679" cy="261347"/>
            <a:chOff x="0" y="0"/>
            <a:chExt cx="435572" cy="34846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35610" cy="348488"/>
            </a:xfrm>
            <a:custGeom>
              <a:avLst/>
              <a:gdLst/>
              <a:ahLst/>
              <a:cxnLst/>
              <a:rect r="r" b="b" t="t" l="l"/>
              <a:pathLst>
                <a:path h="348488" w="435610">
                  <a:moveTo>
                    <a:pt x="0" y="0"/>
                  </a:moveTo>
                  <a:lnTo>
                    <a:pt x="435610" y="0"/>
                  </a:lnTo>
                  <a:lnTo>
                    <a:pt x="435610" y="348488"/>
                  </a:lnTo>
                  <a:lnTo>
                    <a:pt x="0" y="348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0" t="0" r="-361" b="7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622059" y="7400925"/>
            <a:ext cx="8489899" cy="87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🚨 </a:t>
            </a:r>
            <a:r>
              <a:rPr lang="en-US" sz="20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Problem:</a:t>
            </a: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Lack of intelligent systems for accurate crop recommendation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72695" y="8822827"/>
            <a:ext cx="9600609" cy="4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5"/>
              </a:lnSpc>
            </a:pPr>
            <a:r>
              <a:rPr lang="en-US" sz="2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👉</a:t>
            </a: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Solution:</a:t>
            </a: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A Machine Learning-based system for data-driven crop selection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1705"/>
            <a:ext cx="7088238" cy="91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238527"/>
            <a:ext cx="5254971" cy="3703587"/>
            <a:chOff x="0" y="0"/>
            <a:chExt cx="7006628" cy="49381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2536327"/>
            <a:ext cx="850554" cy="850554"/>
            <a:chOff x="0" y="0"/>
            <a:chExt cx="1134072" cy="1134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277013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439" r="0" b="-2439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3651352"/>
            <a:ext cx="3826964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Predictive ML Model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4188171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Develop a machine learning model for accurate crop recommendation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6443" y="2238527"/>
            <a:ext cx="5254971" cy="3703587"/>
            <a:chOff x="0" y="0"/>
            <a:chExt cx="7006628" cy="493811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14242" y="2536327"/>
            <a:ext cx="850554" cy="850554"/>
            <a:chOff x="0" y="0"/>
            <a:chExt cx="1134072" cy="113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7048205" y="277013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0244" t="0" r="-40241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814242" y="3651352"/>
            <a:ext cx="35821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Soil &amp; Climate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14242" y="4188171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Use comprehensive soil and climate parameters for predictions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045401" y="2238527"/>
            <a:ext cx="5254971" cy="3703587"/>
            <a:chOff x="0" y="0"/>
            <a:chExt cx="7006628" cy="493811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6993890" cy="4925314"/>
            </a:xfrm>
            <a:custGeom>
              <a:avLst/>
              <a:gdLst/>
              <a:ahLst/>
              <a:cxnLst/>
              <a:rect r="r" b="b" t="t" l="l"/>
              <a:pathLst>
                <a:path h="4925314" w="6993890">
                  <a:moveTo>
                    <a:pt x="0" y="158750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766564"/>
                  </a:lnTo>
                  <a:cubicBezTo>
                    <a:pt x="6993890" y="4854321"/>
                    <a:pt x="6922770" y="4925314"/>
                    <a:pt x="6835013" y="4925314"/>
                  </a:cubicBezTo>
                  <a:lnTo>
                    <a:pt x="158877" y="4925314"/>
                  </a:lnTo>
                  <a:cubicBezTo>
                    <a:pt x="71120" y="4925441"/>
                    <a:pt x="0" y="4854321"/>
                    <a:pt x="0" y="4766564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06590" cy="4938014"/>
            </a:xfrm>
            <a:custGeom>
              <a:avLst/>
              <a:gdLst/>
              <a:ahLst/>
              <a:cxnLst/>
              <a:rect r="r" b="b" t="t" l="l"/>
              <a:pathLst>
                <a:path h="4938014" w="7006590">
                  <a:moveTo>
                    <a:pt x="0" y="165100"/>
                  </a:moveTo>
                  <a:cubicBezTo>
                    <a:pt x="0" y="73914"/>
                    <a:pt x="74041" y="0"/>
                    <a:pt x="165227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590" y="73914"/>
                    <a:pt x="7006590" y="165100"/>
                  </a:cubicBezTo>
                  <a:lnTo>
                    <a:pt x="7000240" y="165100"/>
                  </a:lnTo>
                  <a:lnTo>
                    <a:pt x="7006590" y="165100"/>
                  </a:lnTo>
                  <a:lnTo>
                    <a:pt x="7006590" y="4772914"/>
                  </a:lnTo>
                  <a:lnTo>
                    <a:pt x="7000240" y="4772914"/>
                  </a:lnTo>
                  <a:lnTo>
                    <a:pt x="7006590" y="4772914"/>
                  </a:lnTo>
                  <a:cubicBezTo>
                    <a:pt x="7006590" y="4864100"/>
                    <a:pt x="6932549" y="4938014"/>
                    <a:pt x="6841363" y="4938014"/>
                  </a:cubicBezTo>
                  <a:lnTo>
                    <a:pt x="6841363" y="4931664"/>
                  </a:lnTo>
                  <a:lnTo>
                    <a:pt x="6841363" y="4938014"/>
                  </a:lnTo>
                  <a:lnTo>
                    <a:pt x="165227" y="4938014"/>
                  </a:lnTo>
                  <a:lnTo>
                    <a:pt x="165227" y="4931664"/>
                  </a:lnTo>
                  <a:lnTo>
                    <a:pt x="165227" y="4938014"/>
                  </a:lnTo>
                  <a:cubicBezTo>
                    <a:pt x="73914" y="4938014"/>
                    <a:pt x="0" y="4864100"/>
                    <a:pt x="0" y="477291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772914"/>
                  </a:lnTo>
                  <a:lnTo>
                    <a:pt x="6350" y="4772914"/>
                  </a:lnTo>
                  <a:lnTo>
                    <a:pt x="12700" y="4772914"/>
                  </a:lnTo>
                  <a:cubicBezTo>
                    <a:pt x="12700" y="4857115"/>
                    <a:pt x="81026" y="4925314"/>
                    <a:pt x="165227" y="4925314"/>
                  </a:cubicBezTo>
                  <a:lnTo>
                    <a:pt x="6841363" y="4925314"/>
                  </a:lnTo>
                  <a:cubicBezTo>
                    <a:pt x="6925691" y="4925314"/>
                    <a:pt x="6993890" y="4857115"/>
                    <a:pt x="6993890" y="4772914"/>
                  </a:cubicBezTo>
                  <a:lnTo>
                    <a:pt x="6993890" y="165100"/>
                  </a:lnTo>
                  <a:cubicBezTo>
                    <a:pt x="6993890" y="80899"/>
                    <a:pt x="6925564" y="12700"/>
                    <a:pt x="6841363" y="12700"/>
                  </a:cubicBezTo>
                  <a:lnTo>
                    <a:pt x="165227" y="12700"/>
                  </a:lnTo>
                  <a:lnTo>
                    <a:pt x="165227" y="6350"/>
                  </a:lnTo>
                  <a:lnTo>
                    <a:pt x="165227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343209" y="2536327"/>
            <a:ext cx="850554" cy="850554"/>
            <a:chOff x="0" y="0"/>
            <a:chExt cx="1134072" cy="1134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2577172" y="2770137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098" t="0" r="-6096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343209" y="3651352"/>
            <a:ext cx="415631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Regional Optimization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43209" y="4188171"/>
            <a:ext cx="4659363" cy="14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Integrate region-specific optimization for different Indian zones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7476" y="6251524"/>
            <a:ext cx="5254971" cy="3249959"/>
            <a:chOff x="0" y="0"/>
            <a:chExt cx="7006628" cy="43332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6993890" cy="4320540"/>
            </a:xfrm>
            <a:custGeom>
              <a:avLst/>
              <a:gdLst/>
              <a:ahLst/>
              <a:cxnLst/>
              <a:rect r="r" b="b" t="t" l="l"/>
              <a:pathLst>
                <a:path h="4320540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161790"/>
                  </a:lnTo>
                  <a:cubicBezTo>
                    <a:pt x="6993890" y="4249420"/>
                    <a:pt x="6922770" y="4320540"/>
                    <a:pt x="6834886" y="4320540"/>
                  </a:cubicBezTo>
                  <a:lnTo>
                    <a:pt x="159004" y="4320540"/>
                  </a:lnTo>
                  <a:cubicBezTo>
                    <a:pt x="71120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06717" cy="4333240"/>
            </a:xfrm>
            <a:custGeom>
              <a:avLst/>
              <a:gdLst/>
              <a:ahLst/>
              <a:cxnLst/>
              <a:rect r="r" b="b" t="t" l="l"/>
              <a:pathLst>
                <a:path h="4333240" w="7006717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168140"/>
                  </a:lnTo>
                  <a:lnTo>
                    <a:pt x="7000367" y="4168140"/>
                  </a:lnTo>
                  <a:lnTo>
                    <a:pt x="7006717" y="4168140"/>
                  </a:lnTo>
                  <a:cubicBezTo>
                    <a:pt x="7006717" y="4259326"/>
                    <a:pt x="6932676" y="4333240"/>
                    <a:pt x="6841363" y="4333240"/>
                  </a:cubicBezTo>
                  <a:lnTo>
                    <a:pt x="6841363" y="4326890"/>
                  </a:lnTo>
                  <a:lnTo>
                    <a:pt x="6841363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6841363" y="4320540"/>
                  </a:lnTo>
                  <a:cubicBezTo>
                    <a:pt x="6925691" y="4320540"/>
                    <a:pt x="6994017" y="4252341"/>
                    <a:pt x="6994017" y="416814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85284" y="6549333"/>
            <a:ext cx="850554" cy="850554"/>
            <a:chOff x="0" y="0"/>
            <a:chExt cx="1134072" cy="11340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1519238" y="678314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26829" r="0" b="-26829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85284" y="7664348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Mobile Application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85284" y="8201177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Build a mobile-friendly Streamlit application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6516443" y="6251524"/>
            <a:ext cx="5254971" cy="3249959"/>
            <a:chOff x="0" y="0"/>
            <a:chExt cx="7006628" cy="43332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6993890" cy="4320540"/>
            </a:xfrm>
            <a:custGeom>
              <a:avLst/>
              <a:gdLst/>
              <a:ahLst/>
              <a:cxnLst/>
              <a:rect r="r" b="b" t="t" l="l"/>
              <a:pathLst>
                <a:path h="4320540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161790"/>
                  </a:lnTo>
                  <a:cubicBezTo>
                    <a:pt x="6993890" y="4249420"/>
                    <a:pt x="6922770" y="4320540"/>
                    <a:pt x="6834886" y="4320540"/>
                  </a:cubicBezTo>
                  <a:lnTo>
                    <a:pt x="159004" y="4320540"/>
                  </a:lnTo>
                  <a:cubicBezTo>
                    <a:pt x="71120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006717" cy="4333240"/>
            </a:xfrm>
            <a:custGeom>
              <a:avLst/>
              <a:gdLst/>
              <a:ahLst/>
              <a:cxnLst/>
              <a:rect r="r" b="b" t="t" l="l"/>
              <a:pathLst>
                <a:path h="4333240" w="7006717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168140"/>
                  </a:lnTo>
                  <a:lnTo>
                    <a:pt x="7000367" y="4168140"/>
                  </a:lnTo>
                  <a:lnTo>
                    <a:pt x="7006717" y="4168140"/>
                  </a:lnTo>
                  <a:cubicBezTo>
                    <a:pt x="7006717" y="4259326"/>
                    <a:pt x="6932676" y="4333240"/>
                    <a:pt x="6841363" y="4333240"/>
                  </a:cubicBezTo>
                  <a:lnTo>
                    <a:pt x="6841363" y="4326890"/>
                  </a:lnTo>
                  <a:lnTo>
                    <a:pt x="6841363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6841363" y="4320540"/>
                  </a:lnTo>
                  <a:cubicBezTo>
                    <a:pt x="6925691" y="4320540"/>
                    <a:pt x="6994017" y="4252341"/>
                    <a:pt x="6994017" y="416814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6814242" y="6549333"/>
            <a:ext cx="850554" cy="850554"/>
            <a:chOff x="0" y="0"/>
            <a:chExt cx="1134072" cy="11340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7048205" y="678314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40244" t="0" r="-40241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6814242" y="7664348"/>
            <a:ext cx="4057945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Real-Time Predictions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14242" y="8201177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Enable real-time and bulk prediction capabilities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2045401" y="6251524"/>
            <a:ext cx="5254971" cy="3249959"/>
            <a:chOff x="0" y="0"/>
            <a:chExt cx="7006628" cy="433327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6350" y="6350"/>
              <a:ext cx="6993890" cy="4320540"/>
            </a:xfrm>
            <a:custGeom>
              <a:avLst/>
              <a:gdLst/>
              <a:ahLst/>
              <a:cxnLst/>
              <a:rect r="r" b="b" t="t" l="l"/>
              <a:pathLst>
                <a:path h="4320540" w="6993890">
                  <a:moveTo>
                    <a:pt x="0" y="158750"/>
                  </a:moveTo>
                  <a:cubicBezTo>
                    <a:pt x="0" y="71120"/>
                    <a:pt x="71120" y="0"/>
                    <a:pt x="159004" y="0"/>
                  </a:cubicBezTo>
                  <a:lnTo>
                    <a:pt x="6835013" y="0"/>
                  </a:lnTo>
                  <a:cubicBezTo>
                    <a:pt x="6922770" y="0"/>
                    <a:pt x="6993890" y="71120"/>
                    <a:pt x="6993890" y="158750"/>
                  </a:cubicBezTo>
                  <a:lnTo>
                    <a:pt x="6993890" y="4161790"/>
                  </a:lnTo>
                  <a:cubicBezTo>
                    <a:pt x="6993890" y="4249420"/>
                    <a:pt x="6922770" y="4320540"/>
                    <a:pt x="6834886" y="4320540"/>
                  </a:cubicBezTo>
                  <a:lnTo>
                    <a:pt x="159004" y="4320540"/>
                  </a:lnTo>
                  <a:cubicBezTo>
                    <a:pt x="71120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F7EDD4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06717" cy="4333240"/>
            </a:xfrm>
            <a:custGeom>
              <a:avLst/>
              <a:gdLst/>
              <a:ahLst/>
              <a:cxnLst/>
              <a:rect r="r" b="b" t="t" l="l"/>
              <a:pathLst>
                <a:path h="4333240" w="7006717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6841363" y="0"/>
                  </a:lnTo>
                  <a:lnTo>
                    <a:pt x="6841363" y="6350"/>
                  </a:lnTo>
                  <a:lnTo>
                    <a:pt x="6841363" y="0"/>
                  </a:lnTo>
                  <a:cubicBezTo>
                    <a:pt x="6932676" y="0"/>
                    <a:pt x="7006717" y="73914"/>
                    <a:pt x="7006717" y="165100"/>
                  </a:cubicBezTo>
                  <a:lnTo>
                    <a:pt x="7000367" y="165100"/>
                  </a:lnTo>
                  <a:lnTo>
                    <a:pt x="7006717" y="165100"/>
                  </a:lnTo>
                  <a:lnTo>
                    <a:pt x="7006717" y="4168140"/>
                  </a:lnTo>
                  <a:lnTo>
                    <a:pt x="7000367" y="4168140"/>
                  </a:lnTo>
                  <a:lnTo>
                    <a:pt x="7006717" y="4168140"/>
                  </a:lnTo>
                  <a:cubicBezTo>
                    <a:pt x="7006717" y="4259326"/>
                    <a:pt x="6932676" y="4333240"/>
                    <a:pt x="6841363" y="4333240"/>
                  </a:cubicBezTo>
                  <a:lnTo>
                    <a:pt x="6841363" y="4326890"/>
                  </a:lnTo>
                  <a:lnTo>
                    <a:pt x="6841363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6841363" y="4320540"/>
                  </a:lnTo>
                  <a:cubicBezTo>
                    <a:pt x="6925691" y="4320540"/>
                    <a:pt x="6994017" y="4252341"/>
                    <a:pt x="6994017" y="4168140"/>
                  </a:cubicBezTo>
                  <a:lnTo>
                    <a:pt x="6994017" y="165100"/>
                  </a:lnTo>
                  <a:cubicBezTo>
                    <a:pt x="6994017" y="80899"/>
                    <a:pt x="6925691" y="12700"/>
                    <a:pt x="6841363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3209" y="6549333"/>
            <a:ext cx="850554" cy="850554"/>
            <a:chOff x="0" y="0"/>
            <a:chExt cx="1134072" cy="11340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Freeform 52" id="52" descr="preencoded.png"/>
          <p:cNvSpPr/>
          <p:nvPr/>
        </p:nvSpPr>
        <p:spPr>
          <a:xfrm flipH="false" flipV="false" rot="0">
            <a:off x="12577172" y="678314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219" t="0" r="-1219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12343209" y="7664348"/>
            <a:ext cx="355848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Agricultural Impact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343209" y="8201177"/>
            <a:ext cx="4659363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Improve agricultural productivity and sustainability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9217" y="734168"/>
            <a:ext cx="6423717" cy="83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49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9217" y="2128542"/>
            <a:ext cx="3211859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Dataset Source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9217" y="2715073"/>
            <a:ext cx="9642872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Dataset sourced from Kaggle Crop Recommendation Dataset with approximately 2,200+ samples covering 22 different crop types.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217" y="3779196"/>
            <a:ext cx="3211859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Input Features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217" y="4365727"/>
            <a:ext cx="9642872" cy="329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Nitrogen (N) content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Phosphorus (P) content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Potassium (K) content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Temperature (°C)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Humidity (%)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pH value</a:t>
            </a:r>
          </a:p>
          <a:p>
            <a:pPr algn="l" marL="301625" indent="-150812" lvl="1">
              <a:lnSpc>
                <a:spcPts val="3062"/>
              </a:lnSpc>
              <a:buFont typeface="Arial"/>
              <a:buChar char="•"/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Rainfall (mm)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9217" y="7877623"/>
            <a:ext cx="3211859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Target Variable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9217" y="8464153"/>
            <a:ext cx="9642872" cy="85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Crop label (Rice, Wheat, Maize, etc.) representing real-world agricultural conditions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78483" y="3957190"/>
            <a:ext cx="6219673" cy="3524402"/>
            <a:chOff x="0" y="0"/>
            <a:chExt cx="8292897" cy="469920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8292846" cy="4699254"/>
            </a:xfrm>
            <a:custGeom>
              <a:avLst/>
              <a:gdLst/>
              <a:ahLst/>
              <a:cxnLst/>
              <a:rect r="r" b="b" t="t" l="l"/>
              <a:pathLst>
                <a:path h="4699254" w="8292846">
                  <a:moveTo>
                    <a:pt x="0" y="0"/>
                  </a:moveTo>
                  <a:lnTo>
                    <a:pt x="8292846" y="0"/>
                  </a:lnTo>
                  <a:lnTo>
                    <a:pt x="8292846" y="4699254"/>
                  </a:lnTo>
                  <a:lnTo>
                    <a:pt x="0" y="4699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" t="0" r="-3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2783" y="679104"/>
            <a:ext cx="8291217" cy="74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7"/>
              </a:lnSpc>
            </a:pPr>
            <a:r>
              <a:rPr lang="en-US" sz="4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 &amp;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2783" y="1725959"/>
            <a:ext cx="487261" cy="35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852783" y="2159051"/>
            <a:ext cx="9724434" cy="28575"/>
            <a:chOff x="0" y="0"/>
            <a:chExt cx="12965913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965938" cy="38100"/>
            </a:xfrm>
            <a:custGeom>
              <a:avLst/>
              <a:gdLst/>
              <a:ahLst/>
              <a:cxnLst/>
              <a:rect r="r" b="b" t="t" l="l"/>
              <a:pathLst>
                <a:path h="38100" w="12965938">
                  <a:moveTo>
                    <a:pt x="0" y="0"/>
                  </a:moveTo>
                  <a:lnTo>
                    <a:pt x="12965938" y="0"/>
                  </a:lnTo>
                  <a:lnTo>
                    <a:pt x="1296593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52783" y="2337940"/>
            <a:ext cx="3045771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Pipeline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2783" y="2787101"/>
            <a:ext cx="9724434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Data preprocessing including cleaning and normalization, exploratory data analysis (EDA), and train-test split (80:20 ratio)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2783" y="3913289"/>
            <a:ext cx="487261" cy="35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02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2783" y="4346372"/>
            <a:ext cx="9724434" cy="28575"/>
            <a:chOff x="0" y="0"/>
            <a:chExt cx="12965913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65938" cy="38100"/>
            </a:xfrm>
            <a:custGeom>
              <a:avLst/>
              <a:gdLst/>
              <a:ahLst/>
              <a:cxnLst/>
              <a:rect r="r" b="b" t="t" l="l"/>
              <a:pathLst>
                <a:path h="38100" w="12965938">
                  <a:moveTo>
                    <a:pt x="0" y="0"/>
                  </a:moveTo>
                  <a:lnTo>
                    <a:pt x="12965938" y="0"/>
                  </a:lnTo>
                  <a:lnTo>
                    <a:pt x="1296593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52783" y="4525270"/>
            <a:ext cx="3045771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Training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2783" y="4974431"/>
            <a:ext cx="9724434" cy="78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Implemented Random Forest Classifier and Decision Tree algorithms for crop prediction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2783" y="6100610"/>
            <a:ext cx="487261" cy="35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03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2783" y="6533702"/>
            <a:ext cx="9724434" cy="28575"/>
            <a:chOff x="0" y="0"/>
            <a:chExt cx="12965913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965938" cy="38100"/>
            </a:xfrm>
            <a:custGeom>
              <a:avLst/>
              <a:gdLst/>
              <a:ahLst/>
              <a:cxnLst/>
              <a:rect r="r" b="b" t="t" l="l"/>
              <a:pathLst>
                <a:path h="38100" w="12965938">
                  <a:moveTo>
                    <a:pt x="0" y="0"/>
                  </a:moveTo>
                  <a:lnTo>
                    <a:pt x="12965938" y="0"/>
                  </a:lnTo>
                  <a:lnTo>
                    <a:pt x="1296593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52783" y="6712591"/>
            <a:ext cx="3045771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Evaluation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52783" y="7161762"/>
            <a:ext cx="9724434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Assessed using accuracy, precision, recall, and F1-score metrics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52783" y="7925543"/>
            <a:ext cx="487261" cy="352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04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52783" y="8358635"/>
            <a:ext cx="9724434" cy="28575"/>
            <a:chOff x="0" y="0"/>
            <a:chExt cx="12965913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65938" cy="38100"/>
            </a:xfrm>
            <a:custGeom>
              <a:avLst/>
              <a:gdLst/>
              <a:ahLst/>
              <a:cxnLst/>
              <a:rect r="r" b="b" t="t" l="l"/>
              <a:pathLst>
                <a:path h="38100" w="12965938">
                  <a:moveTo>
                    <a:pt x="0" y="0"/>
                  </a:moveTo>
                  <a:lnTo>
                    <a:pt x="12965938" y="0"/>
                  </a:lnTo>
                  <a:lnTo>
                    <a:pt x="1296593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B88E23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52783" y="8537524"/>
            <a:ext cx="3046962" cy="380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2375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Serialization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2783" y="8986685"/>
            <a:ext cx="9724434" cy="41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4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Serialized model using Joblib for efficient deployment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3739" y="717347"/>
            <a:ext cx="6858640" cy="76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83739" y="1975247"/>
            <a:ext cx="1262510" cy="1515066"/>
            <a:chOff x="0" y="0"/>
            <a:chExt cx="1683347" cy="202008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90" t="0" r="-187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371134" y="2218134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User 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1134" y="2699890"/>
            <a:ext cx="1503312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Soil and weather data collection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83739" y="3490322"/>
            <a:ext cx="1262510" cy="1515066"/>
            <a:chOff x="0" y="0"/>
            <a:chExt cx="1683347" cy="202008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0" t="0" r="-187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1134" y="3733209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Streamlit Interface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1134" y="4214965"/>
            <a:ext cx="1503312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Interactive web application layer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83739" y="5005388"/>
            <a:ext cx="1262510" cy="1515066"/>
            <a:chOff x="0" y="0"/>
            <a:chExt cx="1683347" cy="202008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90" t="0" r="-187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371134" y="5248275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ML Model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1134" y="5730030"/>
            <a:ext cx="1503312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Random Forest classifier processing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83739" y="6520453"/>
            <a:ext cx="1262510" cy="1515066"/>
            <a:chOff x="0" y="0"/>
            <a:chExt cx="1683347" cy="202008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0" t="0" r="-187" b="-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371134" y="6763341"/>
            <a:ext cx="3702396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Regional 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71134" y="7245106"/>
            <a:ext cx="1503312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Location-based refinement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83739" y="8035528"/>
            <a:ext cx="1262510" cy="1515066"/>
            <a:chOff x="0" y="0"/>
            <a:chExt cx="1683347" cy="2020087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83385" cy="2020062"/>
            </a:xfrm>
            <a:custGeom>
              <a:avLst/>
              <a:gdLst/>
              <a:ahLst/>
              <a:cxnLst/>
              <a:rect r="r" b="b" t="t" l="l"/>
              <a:pathLst>
                <a:path h="2020062" w="1683385">
                  <a:moveTo>
                    <a:pt x="0" y="0"/>
                  </a:moveTo>
                  <a:lnTo>
                    <a:pt x="1683385" y="0"/>
                  </a:lnTo>
                  <a:lnTo>
                    <a:pt x="1683385" y="2020062"/>
                  </a:lnTo>
                  <a:lnTo>
                    <a:pt x="0" y="2020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0" t="0" r="-187" b="-1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371134" y="8278416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 Output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71134" y="8760171"/>
            <a:ext cx="1503312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Comprehensive crop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41739" y="794595"/>
            <a:ext cx="7406278" cy="808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7"/>
              </a:lnSpc>
            </a:pPr>
            <a:r>
              <a:rPr lang="en-US" sz="49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Regional Optimization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1739" y="1683096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Innovation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1739" y="2367258"/>
            <a:ext cx="9662522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Supports 6 major Indian regions: North, South, East, West, Central, and Hilly zones.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41739" y="3274666"/>
            <a:ext cx="3440754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Optimization Factors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41739" y="3846462"/>
            <a:ext cx="4523184" cy="174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Crop suitability by region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Soil condition matching (N, P, K, pH)</a:t>
            </a:r>
          </a:p>
          <a:p>
            <a:pPr algn="l" marL="292199" indent="-146100" lvl="1">
              <a:lnSpc>
                <a:spcPts val="3000"/>
              </a:lnSpc>
              <a:buFont typeface="Arial"/>
              <a:buChar char="•"/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Seasonal variations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0602" y="3274666"/>
            <a:ext cx="3352352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Confidence Formula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0602" y="3846462"/>
            <a:ext cx="4523184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📊</a:t>
            </a: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37" b="true">
                <a:solidFill>
                  <a:srgbClr val="454240"/>
                </a:solidFill>
                <a:latin typeface="DM Sans Bold"/>
                <a:ea typeface="DM Sans Bold"/>
                <a:cs typeface="DM Sans Bold"/>
                <a:sym typeface="DM Sans Bold"/>
              </a:rPr>
              <a:t>Final Confidence</a:t>
            </a: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= Base Confidence × Regional Factor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27452" y="5905652"/>
            <a:ext cx="4747317" cy="1883721"/>
            <a:chOff x="0" y="0"/>
            <a:chExt cx="6329756" cy="25116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6291707" cy="2473452"/>
            </a:xfrm>
            <a:custGeom>
              <a:avLst/>
              <a:gdLst/>
              <a:ahLst/>
              <a:cxnLst/>
              <a:rect r="r" b="b" t="t" l="l"/>
              <a:pathLst>
                <a:path h="2473452" w="6291707">
                  <a:moveTo>
                    <a:pt x="0" y="141351"/>
                  </a:moveTo>
                  <a:cubicBezTo>
                    <a:pt x="0" y="63373"/>
                    <a:pt x="63881" y="0"/>
                    <a:pt x="142748" y="0"/>
                  </a:cubicBezTo>
                  <a:lnTo>
                    <a:pt x="6148959" y="0"/>
                  </a:lnTo>
                  <a:cubicBezTo>
                    <a:pt x="6227826" y="0"/>
                    <a:pt x="6291707" y="63373"/>
                    <a:pt x="6291707" y="141351"/>
                  </a:cubicBezTo>
                  <a:lnTo>
                    <a:pt x="6291707" y="2332101"/>
                  </a:lnTo>
                  <a:cubicBezTo>
                    <a:pt x="6291707" y="2410206"/>
                    <a:pt x="6227826" y="2473452"/>
                    <a:pt x="6148959" y="2473452"/>
                  </a:cubicBezTo>
                  <a:lnTo>
                    <a:pt x="142748" y="2473452"/>
                  </a:lnTo>
                  <a:cubicBezTo>
                    <a:pt x="63881" y="2473452"/>
                    <a:pt x="0" y="2410079"/>
                    <a:pt x="0" y="2332101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29807" cy="2511552"/>
            </a:xfrm>
            <a:custGeom>
              <a:avLst/>
              <a:gdLst/>
              <a:ahLst/>
              <a:cxnLst/>
              <a:rect r="r" b="b" t="t" l="l"/>
              <a:pathLst>
                <a:path h="2511552" w="6329807">
                  <a:moveTo>
                    <a:pt x="0" y="160401"/>
                  </a:moveTo>
                  <a:cubicBezTo>
                    <a:pt x="0" y="71628"/>
                    <a:pt x="72644" y="0"/>
                    <a:pt x="161798" y="0"/>
                  </a:cubicBezTo>
                  <a:lnTo>
                    <a:pt x="6168009" y="0"/>
                  </a:lnTo>
                  <a:lnTo>
                    <a:pt x="6168009" y="19050"/>
                  </a:lnTo>
                  <a:lnTo>
                    <a:pt x="6168009" y="0"/>
                  </a:lnTo>
                  <a:cubicBezTo>
                    <a:pt x="6257163" y="0"/>
                    <a:pt x="6329807" y="71628"/>
                    <a:pt x="6329807" y="160401"/>
                  </a:cubicBezTo>
                  <a:lnTo>
                    <a:pt x="6310757" y="160401"/>
                  </a:lnTo>
                  <a:lnTo>
                    <a:pt x="6329807" y="160401"/>
                  </a:lnTo>
                  <a:lnTo>
                    <a:pt x="6329807" y="2351151"/>
                  </a:lnTo>
                  <a:lnTo>
                    <a:pt x="6310757" y="2351151"/>
                  </a:lnTo>
                  <a:lnTo>
                    <a:pt x="6329807" y="2351151"/>
                  </a:lnTo>
                  <a:cubicBezTo>
                    <a:pt x="6329807" y="2439924"/>
                    <a:pt x="6257163" y="2511552"/>
                    <a:pt x="6168009" y="2511552"/>
                  </a:cubicBezTo>
                  <a:lnTo>
                    <a:pt x="6168009" y="2492502"/>
                  </a:lnTo>
                  <a:lnTo>
                    <a:pt x="6168009" y="2511552"/>
                  </a:lnTo>
                  <a:lnTo>
                    <a:pt x="161798" y="2511552"/>
                  </a:lnTo>
                  <a:lnTo>
                    <a:pt x="161798" y="2492502"/>
                  </a:lnTo>
                  <a:lnTo>
                    <a:pt x="161798" y="2511552"/>
                  </a:lnTo>
                  <a:cubicBezTo>
                    <a:pt x="72644" y="2511679"/>
                    <a:pt x="0" y="2439924"/>
                    <a:pt x="0" y="2351151"/>
                  </a:cubicBezTo>
                  <a:lnTo>
                    <a:pt x="0" y="160401"/>
                  </a:lnTo>
                  <a:lnTo>
                    <a:pt x="19050" y="160401"/>
                  </a:lnTo>
                  <a:lnTo>
                    <a:pt x="0" y="160401"/>
                  </a:lnTo>
                  <a:moveTo>
                    <a:pt x="38100" y="160401"/>
                  </a:moveTo>
                  <a:lnTo>
                    <a:pt x="38100" y="2351151"/>
                  </a:lnTo>
                  <a:lnTo>
                    <a:pt x="19050" y="2351151"/>
                  </a:lnTo>
                  <a:lnTo>
                    <a:pt x="38100" y="2351151"/>
                  </a:lnTo>
                  <a:cubicBezTo>
                    <a:pt x="38100" y="2418588"/>
                    <a:pt x="93345" y="2473452"/>
                    <a:pt x="161798" y="2473452"/>
                  </a:cubicBezTo>
                  <a:lnTo>
                    <a:pt x="6168009" y="2473452"/>
                  </a:lnTo>
                  <a:cubicBezTo>
                    <a:pt x="6236462" y="2473452"/>
                    <a:pt x="6291707" y="2418461"/>
                    <a:pt x="6291707" y="2351151"/>
                  </a:cubicBezTo>
                  <a:lnTo>
                    <a:pt x="6291707" y="160401"/>
                  </a:lnTo>
                  <a:cubicBezTo>
                    <a:pt x="6291707" y="92964"/>
                    <a:pt x="6236462" y="38100"/>
                    <a:pt x="6168009" y="38100"/>
                  </a:cubicBezTo>
                  <a:lnTo>
                    <a:pt x="161798" y="38100"/>
                  </a:lnTo>
                  <a:lnTo>
                    <a:pt x="161798" y="19050"/>
                  </a:lnTo>
                  <a:lnTo>
                    <a:pt x="161798" y="38100"/>
                  </a:lnTo>
                  <a:cubicBezTo>
                    <a:pt x="93345" y="38100"/>
                    <a:pt x="38100" y="93091"/>
                    <a:pt x="38100" y="160401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022727" y="6191402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Seasonal Crops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022727" y="6673158"/>
            <a:ext cx="4156767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Rabi, Kharif, and Summer crop recommendations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671079" y="5905652"/>
            <a:ext cx="4747470" cy="1883721"/>
            <a:chOff x="0" y="0"/>
            <a:chExt cx="6329959" cy="25116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9050" y="19050"/>
              <a:ext cx="6291834" cy="2473452"/>
            </a:xfrm>
            <a:custGeom>
              <a:avLst/>
              <a:gdLst/>
              <a:ahLst/>
              <a:cxnLst/>
              <a:rect r="r" b="b" t="t" l="l"/>
              <a:pathLst>
                <a:path h="2473452" w="6291834">
                  <a:moveTo>
                    <a:pt x="0" y="141351"/>
                  </a:moveTo>
                  <a:cubicBezTo>
                    <a:pt x="0" y="63373"/>
                    <a:pt x="63881" y="0"/>
                    <a:pt x="142748" y="0"/>
                  </a:cubicBezTo>
                  <a:lnTo>
                    <a:pt x="6149086" y="0"/>
                  </a:lnTo>
                  <a:cubicBezTo>
                    <a:pt x="6227953" y="0"/>
                    <a:pt x="6291834" y="63373"/>
                    <a:pt x="6291834" y="141351"/>
                  </a:cubicBezTo>
                  <a:lnTo>
                    <a:pt x="6291834" y="2332101"/>
                  </a:lnTo>
                  <a:cubicBezTo>
                    <a:pt x="6291834" y="2410206"/>
                    <a:pt x="6227953" y="2473452"/>
                    <a:pt x="6149086" y="2473452"/>
                  </a:cubicBezTo>
                  <a:lnTo>
                    <a:pt x="142748" y="2473452"/>
                  </a:lnTo>
                  <a:cubicBezTo>
                    <a:pt x="63881" y="2473452"/>
                    <a:pt x="0" y="2410079"/>
                    <a:pt x="0" y="2332101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29934" cy="2511552"/>
            </a:xfrm>
            <a:custGeom>
              <a:avLst/>
              <a:gdLst/>
              <a:ahLst/>
              <a:cxnLst/>
              <a:rect r="r" b="b" t="t" l="l"/>
              <a:pathLst>
                <a:path h="2511552" w="6329934">
                  <a:moveTo>
                    <a:pt x="0" y="160401"/>
                  </a:moveTo>
                  <a:cubicBezTo>
                    <a:pt x="0" y="71628"/>
                    <a:pt x="72644" y="0"/>
                    <a:pt x="161798" y="0"/>
                  </a:cubicBezTo>
                  <a:lnTo>
                    <a:pt x="6168136" y="0"/>
                  </a:lnTo>
                  <a:lnTo>
                    <a:pt x="6168136" y="19050"/>
                  </a:lnTo>
                  <a:lnTo>
                    <a:pt x="6168136" y="0"/>
                  </a:lnTo>
                  <a:cubicBezTo>
                    <a:pt x="6257290" y="0"/>
                    <a:pt x="6329934" y="71628"/>
                    <a:pt x="6329934" y="160401"/>
                  </a:cubicBezTo>
                  <a:lnTo>
                    <a:pt x="6310884" y="160401"/>
                  </a:lnTo>
                  <a:lnTo>
                    <a:pt x="6329934" y="160401"/>
                  </a:lnTo>
                  <a:lnTo>
                    <a:pt x="6329934" y="2351151"/>
                  </a:lnTo>
                  <a:lnTo>
                    <a:pt x="6310884" y="2351151"/>
                  </a:lnTo>
                  <a:lnTo>
                    <a:pt x="6329934" y="2351151"/>
                  </a:lnTo>
                  <a:cubicBezTo>
                    <a:pt x="6329934" y="2439924"/>
                    <a:pt x="6257290" y="2511552"/>
                    <a:pt x="6168136" y="2511552"/>
                  </a:cubicBezTo>
                  <a:lnTo>
                    <a:pt x="6168136" y="2492502"/>
                  </a:lnTo>
                  <a:lnTo>
                    <a:pt x="6168136" y="2511552"/>
                  </a:lnTo>
                  <a:lnTo>
                    <a:pt x="161798" y="2511552"/>
                  </a:lnTo>
                  <a:lnTo>
                    <a:pt x="161798" y="2492502"/>
                  </a:lnTo>
                  <a:lnTo>
                    <a:pt x="161798" y="2511552"/>
                  </a:lnTo>
                  <a:cubicBezTo>
                    <a:pt x="72644" y="2511679"/>
                    <a:pt x="0" y="2439924"/>
                    <a:pt x="0" y="2351151"/>
                  </a:cubicBezTo>
                  <a:lnTo>
                    <a:pt x="0" y="160401"/>
                  </a:lnTo>
                  <a:lnTo>
                    <a:pt x="19050" y="160401"/>
                  </a:lnTo>
                  <a:lnTo>
                    <a:pt x="0" y="160401"/>
                  </a:lnTo>
                  <a:moveTo>
                    <a:pt x="38100" y="160401"/>
                  </a:moveTo>
                  <a:lnTo>
                    <a:pt x="38100" y="2351151"/>
                  </a:lnTo>
                  <a:lnTo>
                    <a:pt x="19050" y="2351151"/>
                  </a:lnTo>
                  <a:lnTo>
                    <a:pt x="38100" y="2351151"/>
                  </a:lnTo>
                  <a:cubicBezTo>
                    <a:pt x="38100" y="2418588"/>
                    <a:pt x="93345" y="2473452"/>
                    <a:pt x="161798" y="2473452"/>
                  </a:cubicBezTo>
                  <a:lnTo>
                    <a:pt x="6168136" y="2473452"/>
                  </a:lnTo>
                  <a:cubicBezTo>
                    <a:pt x="6236589" y="2473452"/>
                    <a:pt x="6291834" y="2418461"/>
                    <a:pt x="6291834" y="2351151"/>
                  </a:cubicBezTo>
                  <a:lnTo>
                    <a:pt x="6291834" y="160401"/>
                  </a:lnTo>
                  <a:cubicBezTo>
                    <a:pt x="6291834" y="92964"/>
                    <a:pt x="6236589" y="38100"/>
                    <a:pt x="6168136" y="38100"/>
                  </a:cubicBezTo>
                  <a:lnTo>
                    <a:pt x="161798" y="38100"/>
                  </a:lnTo>
                  <a:lnTo>
                    <a:pt x="161798" y="19050"/>
                  </a:lnTo>
                  <a:lnTo>
                    <a:pt x="161798" y="38100"/>
                  </a:lnTo>
                  <a:cubicBezTo>
                    <a:pt x="93345" y="38100"/>
                    <a:pt x="38100" y="93091"/>
                    <a:pt x="38100" y="160401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966354" y="6191402"/>
            <a:ext cx="3947817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Optimal Soil Conditions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66354" y="6673158"/>
            <a:ext cx="4156920" cy="820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Region-specific soil parameter guidelines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727452" y="7985674"/>
            <a:ext cx="9691097" cy="1501826"/>
            <a:chOff x="0" y="0"/>
            <a:chExt cx="12921463" cy="20024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12883388" cy="1964182"/>
            </a:xfrm>
            <a:custGeom>
              <a:avLst/>
              <a:gdLst/>
              <a:ahLst/>
              <a:cxnLst/>
              <a:rect r="r" b="b" t="t" l="l"/>
              <a:pathLst>
                <a:path h="1964182" w="12883388">
                  <a:moveTo>
                    <a:pt x="0" y="141351"/>
                  </a:moveTo>
                  <a:cubicBezTo>
                    <a:pt x="0" y="63373"/>
                    <a:pt x="64389" y="0"/>
                    <a:pt x="143764" y="0"/>
                  </a:cubicBezTo>
                  <a:lnTo>
                    <a:pt x="12739624" y="0"/>
                  </a:lnTo>
                  <a:cubicBezTo>
                    <a:pt x="12818999" y="0"/>
                    <a:pt x="12883388" y="63373"/>
                    <a:pt x="12883388" y="141351"/>
                  </a:cubicBezTo>
                  <a:lnTo>
                    <a:pt x="12883388" y="1822831"/>
                  </a:lnTo>
                  <a:cubicBezTo>
                    <a:pt x="12883388" y="1900936"/>
                    <a:pt x="12818999" y="1964182"/>
                    <a:pt x="12739624" y="1964182"/>
                  </a:cubicBezTo>
                  <a:lnTo>
                    <a:pt x="143764" y="1964182"/>
                  </a:lnTo>
                  <a:cubicBezTo>
                    <a:pt x="64389" y="1964182"/>
                    <a:pt x="0" y="1900809"/>
                    <a:pt x="0" y="1822831"/>
                  </a:cubicBezTo>
                  <a:close/>
                </a:path>
              </a:pathLst>
            </a:custGeom>
            <a:solidFill>
              <a:srgbClr val="FFFDF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21488" cy="2002282"/>
            </a:xfrm>
            <a:custGeom>
              <a:avLst/>
              <a:gdLst/>
              <a:ahLst/>
              <a:cxnLst/>
              <a:rect r="r" b="b" t="t" l="l"/>
              <a:pathLst>
                <a:path h="2002282" w="12921488">
                  <a:moveTo>
                    <a:pt x="0" y="160401"/>
                  </a:moveTo>
                  <a:cubicBezTo>
                    <a:pt x="0" y="71501"/>
                    <a:pt x="73152" y="0"/>
                    <a:pt x="162814" y="0"/>
                  </a:cubicBezTo>
                  <a:lnTo>
                    <a:pt x="12758674" y="0"/>
                  </a:lnTo>
                  <a:lnTo>
                    <a:pt x="12758674" y="19050"/>
                  </a:lnTo>
                  <a:lnTo>
                    <a:pt x="12758674" y="0"/>
                  </a:lnTo>
                  <a:cubicBezTo>
                    <a:pt x="12848336" y="0"/>
                    <a:pt x="12921488" y="71501"/>
                    <a:pt x="12921488" y="160401"/>
                  </a:cubicBezTo>
                  <a:lnTo>
                    <a:pt x="12902438" y="160401"/>
                  </a:lnTo>
                  <a:lnTo>
                    <a:pt x="12921488" y="160401"/>
                  </a:lnTo>
                  <a:lnTo>
                    <a:pt x="12921488" y="1841881"/>
                  </a:lnTo>
                  <a:lnTo>
                    <a:pt x="12902438" y="1841881"/>
                  </a:lnTo>
                  <a:lnTo>
                    <a:pt x="12921488" y="1841881"/>
                  </a:lnTo>
                  <a:cubicBezTo>
                    <a:pt x="12921488" y="1930781"/>
                    <a:pt x="12848336" y="2002282"/>
                    <a:pt x="12758674" y="2002282"/>
                  </a:cubicBezTo>
                  <a:lnTo>
                    <a:pt x="12758674" y="1983232"/>
                  </a:lnTo>
                  <a:lnTo>
                    <a:pt x="12758674" y="2002282"/>
                  </a:lnTo>
                  <a:lnTo>
                    <a:pt x="162814" y="2002282"/>
                  </a:lnTo>
                  <a:lnTo>
                    <a:pt x="162814" y="1983232"/>
                  </a:lnTo>
                  <a:lnTo>
                    <a:pt x="162814" y="2002282"/>
                  </a:lnTo>
                  <a:cubicBezTo>
                    <a:pt x="73152" y="2002409"/>
                    <a:pt x="0" y="1930908"/>
                    <a:pt x="0" y="1842008"/>
                  </a:cubicBezTo>
                  <a:lnTo>
                    <a:pt x="0" y="160401"/>
                  </a:lnTo>
                  <a:lnTo>
                    <a:pt x="19050" y="160401"/>
                  </a:lnTo>
                  <a:lnTo>
                    <a:pt x="0" y="160401"/>
                  </a:lnTo>
                  <a:moveTo>
                    <a:pt x="38100" y="160401"/>
                  </a:moveTo>
                  <a:lnTo>
                    <a:pt x="38100" y="1841881"/>
                  </a:lnTo>
                  <a:lnTo>
                    <a:pt x="19050" y="1841881"/>
                  </a:lnTo>
                  <a:lnTo>
                    <a:pt x="38100" y="1841881"/>
                  </a:lnTo>
                  <a:cubicBezTo>
                    <a:pt x="38100" y="1909191"/>
                    <a:pt x="93599" y="1964182"/>
                    <a:pt x="162814" y="1964182"/>
                  </a:cubicBezTo>
                  <a:lnTo>
                    <a:pt x="12758674" y="1964182"/>
                  </a:lnTo>
                  <a:cubicBezTo>
                    <a:pt x="12827889" y="1964182"/>
                    <a:pt x="12883388" y="1909064"/>
                    <a:pt x="12883388" y="1841881"/>
                  </a:cubicBezTo>
                  <a:lnTo>
                    <a:pt x="12883388" y="160401"/>
                  </a:lnTo>
                  <a:cubicBezTo>
                    <a:pt x="12883388" y="93091"/>
                    <a:pt x="12827889" y="38100"/>
                    <a:pt x="12758674" y="38100"/>
                  </a:cubicBezTo>
                  <a:lnTo>
                    <a:pt x="162814" y="38100"/>
                  </a:lnTo>
                  <a:lnTo>
                    <a:pt x="162814" y="19050"/>
                  </a:lnTo>
                  <a:lnTo>
                    <a:pt x="162814" y="38100"/>
                  </a:lnTo>
                  <a:cubicBezTo>
                    <a:pt x="93599" y="38100"/>
                    <a:pt x="38100" y="93218"/>
                    <a:pt x="38100" y="160401"/>
                  </a:cubicBezTo>
                  <a:close/>
                </a:path>
              </a:pathLst>
            </a:custGeom>
            <a:solidFill>
              <a:srgbClr val="DDD3BA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022727" y="8271424"/>
            <a:ext cx="3156499" cy="40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Farming Tips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22727" y="8753180"/>
            <a:ext cx="9100547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93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Customized advice for each region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88786" y="453476"/>
            <a:ext cx="917077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Application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282" y="1815551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Streamlit Web App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61282" y="2653160"/>
            <a:ext cx="549326" cy="549326"/>
          </a:xfrm>
          <a:custGeom>
            <a:avLst/>
            <a:gdLst/>
            <a:ahLst/>
            <a:cxnLst/>
            <a:rect r="r" b="b" t="t" l="l"/>
            <a:pathLst>
              <a:path h="549326" w="549326">
                <a:moveTo>
                  <a:pt x="0" y="0"/>
                </a:moveTo>
                <a:lnTo>
                  <a:pt x="549326" y="0"/>
                </a:lnTo>
                <a:lnTo>
                  <a:pt x="549326" y="549326"/>
                </a:lnTo>
                <a:lnTo>
                  <a:pt x="0" y="549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9310" r="0" b="-2931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1282" y="3525441"/>
            <a:ext cx="355505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Mobile-Friendly UI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1282" y="4047382"/>
            <a:ext cx="8016478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Fast predictions under 1 second, works on low-end devices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10240" y="2653160"/>
            <a:ext cx="549326" cy="549326"/>
          </a:xfrm>
          <a:custGeom>
            <a:avLst/>
            <a:gdLst/>
            <a:ahLst/>
            <a:cxnLst/>
            <a:rect r="r" b="b" t="t" l="l"/>
            <a:pathLst>
              <a:path h="549326" w="549326">
                <a:moveTo>
                  <a:pt x="0" y="0"/>
                </a:moveTo>
                <a:lnTo>
                  <a:pt x="549326" y="0"/>
                </a:lnTo>
                <a:lnTo>
                  <a:pt x="549326" y="549326"/>
                </a:lnTo>
                <a:lnTo>
                  <a:pt x="0" y="5493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759" r="0" b="-3275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10240" y="3525441"/>
            <a:ext cx="358883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Quick 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10240" y="4047382"/>
            <a:ext cx="8016478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Manual data entry for immediate results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61282" y="5088284"/>
            <a:ext cx="549326" cy="549326"/>
          </a:xfrm>
          <a:custGeom>
            <a:avLst/>
            <a:gdLst/>
            <a:ahLst/>
            <a:cxnLst/>
            <a:rect r="r" b="b" t="t" l="l"/>
            <a:pathLst>
              <a:path h="549326" w="549326">
                <a:moveTo>
                  <a:pt x="0" y="0"/>
                </a:moveTo>
                <a:lnTo>
                  <a:pt x="549326" y="0"/>
                </a:lnTo>
                <a:lnTo>
                  <a:pt x="549326" y="549325"/>
                </a:lnTo>
                <a:lnTo>
                  <a:pt x="0" y="5493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1551" t="0" r="-2155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1282" y="5960564"/>
            <a:ext cx="472410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Weather-Based Prediction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1282" y="6482505"/>
            <a:ext cx="8016478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API integration with OpenWeatherMap for real-time conditions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10240" y="5088284"/>
            <a:ext cx="549326" cy="549326"/>
          </a:xfrm>
          <a:custGeom>
            <a:avLst/>
            <a:gdLst/>
            <a:ahLst/>
            <a:cxnLst/>
            <a:rect r="r" b="b" t="t" l="l"/>
            <a:pathLst>
              <a:path h="549326" w="549326">
                <a:moveTo>
                  <a:pt x="0" y="0"/>
                </a:moveTo>
                <a:lnTo>
                  <a:pt x="549326" y="0"/>
                </a:lnTo>
                <a:lnTo>
                  <a:pt x="549326" y="549325"/>
                </a:lnTo>
                <a:lnTo>
                  <a:pt x="0" y="549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448" r="0" b="-3447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10240" y="5960564"/>
            <a:ext cx="385261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Bulk CSV Prediction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10240" y="6482505"/>
            <a:ext cx="8016478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Batch processing for multiple data entries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61282" y="7523407"/>
            <a:ext cx="549326" cy="549326"/>
          </a:xfrm>
          <a:custGeom>
            <a:avLst/>
            <a:gdLst/>
            <a:ahLst/>
            <a:cxnLst/>
            <a:rect r="r" b="b" t="t" l="l"/>
            <a:pathLst>
              <a:path h="549326" w="549326">
                <a:moveTo>
                  <a:pt x="0" y="0"/>
                </a:moveTo>
                <a:lnTo>
                  <a:pt x="549326" y="0"/>
                </a:lnTo>
                <a:lnTo>
                  <a:pt x="549326" y="549326"/>
                </a:lnTo>
                <a:lnTo>
                  <a:pt x="0" y="5493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4655" r="0" b="-1465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1282" y="8395697"/>
            <a:ext cx="431289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Region Info Dashboard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1282" y="8917629"/>
            <a:ext cx="8016478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Interactive visualizations and insights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310240" y="7523407"/>
            <a:ext cx="549326" cy="549326"/>
          </a:xfrm>
          <a:custGeom>
            <a:avLst/>
            <a:gdLst/>
            <a:ahLst/>
            <a:cxnLst/>
            <a:rect r="r" b="b" t="t" l="l"/>
            <a:pathLst>
              <a:path h="549326" w="549326">
                <a:moveTo>
                  <a:pt x="0" y="0"/>
                </a:moveTo>
                <a:lnTo>
                  <a:pt x="549326" y="0"/>
                </a:lnTo>
                <a:lnTo>
                  <a:pt x="549326" y="549326"/>
                </a:lnTo>
                <a:lnTo>
                  <a:pt x="0" y="5493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465764" y="8395697"/>
            <a:ext cx="3433315" cy="43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Offline Capability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10240" y="8917629"/>
            <a:ext cx="8016478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Prediction functionality without internet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4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82228" y="530723"/>
            <a:ext cx="5725420" cy="62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381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 &amp; Performance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2228" y="1552280"/>
            <a:ext cx="10065544" cy="54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50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496695" y="2298059"/>
            <a:ext cx="243660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Accuracy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2228" y="2654351"/>
            <a:ext cx="10065544" cy="29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Overall model accuracy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2228" y="3406531"/>
            <a:ext cx="10065544" cy="54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50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0.94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96695" y="4152309"/>
            <a:ext cx="243660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Precision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2228" y="4508602"/>
            <a:ext cx="10065544" cy="29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Correct positive predictions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2228" y="5260772"/>
            <a:ext cx="10065544" cy="54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50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0.93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96695" y="6006551"/>
            <a:ext cx="243660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Recall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2228" y="6362852"/>
            <a:ext cx="10065544" cy="29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Proportion of actual positives identified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2228" y="7115023"/>
            <a:ext cx="10065544" cy="54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2"/>
              </a:lnSpc>
            </a:pPr>
            <a:r>
              <a:rPr lang="en-US" sz="506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0.93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496695" y="7860802"/>
            <a:ext cx="2436609" cy="30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5"/>
              </a:lnSpc>
            </a:pPr>
            <a:r>
              <a:rPr lang="en-US" sz="1874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F1-Score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2228" y="8217103"/>
            <a:ext cx="10065544" cy="29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Harmonic mean of precision and recall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82228" y="8659568"/>
            <a:ext cx="10065544" cy="663626"/>
            <a:chOff x="0" y="0"/>
            <a:chExt cx="13420725" cy="88483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20725" cy="884936"/>
            </a:xfrm>
            <a:custGeom>
              <a:avLst/>
              <a:gdLst/>
              <a:ahLst/>
              <a:cxnLst/>
              <a:rect r="r" b="b" t="t" l="l"/>
              <a:pathLst>
                <a:path h="884936" w="13420725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13311505" y="0"/>
                  </a:lnTo>
                  <a:cubicBezTo>
                    <a:pt x="13371830" y="0"/>
                    <a:pt x="13420725" y="48895"/>
                    <a:pt x="13420725" y="109220"/>
                  </a:cubicBezTo>
                  <a:lnTo>
                    <a:pt x="13420725" y="775716"/>
                  </a:lnTo>
                  <a:cubicBezTo>
                    <a:pt x="13420725" y="836041"/>
                    <a:pt x="13371830" y="884936"/>
                    <a:pt x="13311505" y="884936"/>
                  </a:cubicBezTo>
                  <a:lnTo>
                    <a:pt x="109220" y="884936"/>
                  </a:lnTo>
                  <a:cubicBezTo>
                    <a:pt x="48895" y="884936"/>
                    <a:pt x="0" y="836041"/>
                    <a:pt x="0" y="775716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77043" y="8922991"/>
            <a:ext cx="243630" cy="194815"/>
            <a:chOff x="0" y="0"/>
            <a:chExt cx="324841" cy="259753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324866" cy="259715"/>
            </a:xfrm>
            <a:custGeom>
              <a:avLst/>
              <a:gdLst/>
              <a:ahLst/>
              <a:cxnLst/>
              <a:rect r="r" b="b" t="t" l="l"/>
              <a:pathLst>
                <a:path h="259715" w="324866">
                  <a:moveTo>
                    <a:pt x="0" y="0"/>
                  </a:moveTo>
                  <a:lnTo>
                    <a:pt x="324866" y="0"/>
                  </a:lnTo>
                  <a:lnTo>
                    <a:pt x="324866" y="259715"/>
                  </a:lnTo>
                  <a:lnTo>
                    <a:pt x="0" y="259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78" t="0" r="-1966" b="-1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15488" y="8813597"/>
            <a:ext cx="9237459" cy="29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⚡ Prediction Time: &lt;100 ms | Model: Random Forest (100 trees)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2228" y="9445381"/>
            <a:ext cx="10065544" cy="291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500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The model demonstrates reliable performance for real-world agricultural decision support systems.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1172613"/>
            <a:ext cx="9445523" cy="180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 &amp; Future Scope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3662810"/>
            <a:ext cx="354404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Project Conclusion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4313034"/>
            <a:ext cx="4376890" cy="447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Provides accurate, data-driven crop recommendations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Enhances farmer decision-making processes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Supports precision agriculture initiatives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Regional optimization increases practical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8397" y="3662810"/>
            <a:ext cx="4015378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Enhancements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28397" y="4313034"/>
            <a:ext cx="4376890" cy="46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Deep Learning models (CNN, LSTM)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Image-based soil analysis </a:t>
            </a: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📷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Multi-language support </a:t>
            </a: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🌐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Market price integration </a:t>
            </a:r>
            <a:r>
              <a:rPr lang="en-US" sz="2187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💰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Climate change impact modeling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Sub-district level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D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592314" y="3749279"/>
            <a:ext cx="4245795" cy="1747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5C4E3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                           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DAHHkGxPQ2A</dc:identifier>
  <dcterms:modified xsi:type="dcterms:W3CDTF">2011-08-01T06:04:30Z</dcterms:modified>
  <cp:revision>1</cp:revision>
  <dc:title>Crop-Recommendation-System-Using-Soil-and-Climate-Data.pptx</dc:title>
</cp:coreProperties>
</file>